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5943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C6D7E8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804672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customer promise
breaks after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99232"/>
            <a:ext cx="76809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DCE5EE"/>
                </a:solidFill>
                <a:latin typeface="Aptos"/>
              </a:rPr>
              <a:t>How a small delivery-failure tail can constrain marketplace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886200"/>
            <a:ext cx="2743200" cy="1170432"/>
          </a:xfrm>
          <a:prstGeom prst="roundRect">
            <a:avLst>
              <a:gd name="adj" fmla="val 8000"/>
            </a:avLst>
          </a:prstGeom>
          <a:solidFill>
            <a:srgbClr val="1F4267"/>
          </a:solidFill>
          <a:ln>
            <a:solidFill>
              <a:srgbClr val="41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096512"/>
            <a:ext cx="22402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98,666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90288"/>
            <a:ext cx="2240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C4D5E5"/>
                </a:solidFill>
                <a:latin typeface="Aptos"/>
              </a:rPr>
              <a:t>enriched marketplace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989320"/>
            <a:ext cx="4297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BECFE0"/>
                </a:solidFill>
                <a:latin typeface="Aptos"/>
              </a:rPr>
              <a:t>Brazil  •  Sep 2016 – Oct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733925"/>
            <a:ext cx="3349752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endParaRPr sz="950" b="0" dirty="0">
              <a:solidFill>
                <a:srgbClr val="BECFE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320" y="658368"/>
            <a:ext cx="32461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65B4F"/>
                </a:solidFill>
                <a:latin typeface="Aptos"/>
              </a:rPr>
              <a:t>DATA VISUALISATION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078992"/>
            <a:ext cx="3246120" cy="22860"/>
          </a:xfrm>
          <a:prstGeom prst="rect">
            <a:avLst/>
          </a:prstGeom>
          <a:solidFill>
            <a:srgbClr val="4B6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353312"/>
            <a:ext cx="3474720" cy="4315968"/>
          </a:xfrm>
          <a:prstGeom prst="roundRect">
            <a:avLst/>
          </a:prstGeom>
          <a:solidFill>
            <a:srgbClr val="23496F"/>
          </a:solidFill>
          <a:ln w="10160">
            <a:solidFill>
              <a:srgbClr val="4B6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72768"/>
            <a:ext cx="288036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D65B4F"/>
                </a:solidFill>
                <a:latin typeface="Aptos"/>
              </a:rPr>
              <a:t>GROUP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19"/>
            <a:ext cx="2880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59152"/>
            <a:ext cx="1965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Palash Johri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359152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19" b="0">
                <a:solidFill>
                  <a:srgbClr val="DCE5EE"/>
                </a:solidFill>
                <a:latin typeface="Aptos"/>
              </a:rPr>
              <a:t>21F1000512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78608"/>
            <a:ext cx="28803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 b="0">
                <a:solidFill>
                  <a:srgbClr val="BECFE0"/>
                </a:solidFill>
                <a:latin typeface="Aptos"/>
              </a:rPr>
              <a:t>21f1000512@ds.study.iitm.ac.in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898648"/>
            <a:ext cx="2880360" cy="10972"/>
          </a:xfrm>
          <a:prstGeom prst="rect">
            <a:avLst/>
          </a:prstGeom>
          <a:solidFill>
            <a:srgbClr val="4B6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971800"/>
            <a:ext cx="1965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Omkar Pawar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971800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19" b="0">
                <a:solidFill>
                  <a:srgbClr val="DCE5EE"/>
                </a:solidFill>
                <a:latin typeface="Aptos"/>
              </a:rPr>
              <a:t>23F1001898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91256"/>
            <a:ext cx="28803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 b="0">
                <a:solidFill>
                  <a:srgbClr val="BECFE0"/>
                </a:solidFill>
                <a:latin typeface="Aptos"/>
              </a:rPr>
              <a:t>23f1001898@ds.study.iitm.ac.in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511296"/>
            <a:ext cx="2880360" cy="10972"/>
          </a:xfrm>
          <a:prstGeom prst="rect">
            <a:avLst/>
          </a:prstGeom>
          <a:solidFill>
            <a:srgbClr val="4B6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584448"/>
            <a:ext cx="1965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Mrityunjay Chakraborty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3584448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19" b="0">
                <a:solidFill>
                  <a:srgbClr val="DCE5EE"/>
                </a:solidFill>
                <a:latin typeface="Aptos"/>
              </a:rPr>
              <a:t>21F3001385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803904"/>
            <a:ext cx="28803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 b="0">
                <a:solidFill>
                  <a:srgbClr val="BECFE0"/>
                </a:solidFill>
                <a:latin typeface="Aptos"/>
              </a:rPr>
              <a:t>21f3001385@ds.study.iitm.ac.in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4123944"/>
            <a:ext cx="2880360" cy="10972"/>
          </a:xfrm>
          <a:prstGeom prst="rect">
            <a:avLst/>
          </a:prstGeom>
          <a:solidFill>
            <a:srgbClr val="4B6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197096"/>
            <a:ext cx="1965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Anurag Mondal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4197096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19" b="0">
                <a:solidFill>
                  <a:srgbClr val="DCE5EE"/>
                </a:solidFill>
                <a:latin typeface="Aptos"/>
              </a:rPr>
              <a:t>21F1002807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16552"/>
            <a:ext cx="28803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 b="0">
                <a:solidFill>
                  <a:srgbClr val="BECFE0"/>
                </a:solidFill>
                <a:latin typeface="Aptos"/>
              </a:rPr>
              <a:t>21f1002807@ds.study.iitm.ac.in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4736592"/>
            <a:ext cx="2880360" cy="10972"/>
          </a:xfrm>
          <a:prstGeom prst="rect">
            <a:avLst/>
          </a:prstGeom>
          <a:solidFill>
            <a:srgbClr val="4B6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809744"/>
            <a:ext cx="1965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ptos"/>
              </a:rPr>
              <a:t>Hiya Syal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4809744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19" b="0">
                <a:solidFill>
                  <a:srgbClr val="DCE5EE"/>
                </a:solidFill>
                <a:latin typeface="Aptos"/>
              </a:rPr>
              <a:t>23F3003216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029200"/>
            <a:ext cx="28803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 b="0">
                <a:solidFill>
                  <a:srgbClr val="BECFE0"/>
                </a:solidFill>
                <a:latin typeface="Aptos"/>
              </a:rPr>
              <a:t>23f3003216@ds.study.iitm.ac.in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28523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BECFE0"/>
                </a:solidFill>
                <a:latin typeface="Aptos"/>
              </a:rPr>
              <a:t>Course project  •  Group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The story starts after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The marketplace wins the customer at checkout — then a smaller group of orders breaks the promise during fulfilment.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3703320" cy="338328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THE CENTRAL 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880360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63354"/>
                </a:solidFill>
                <a:latin typeface="Aptos"/>
              </a:rPr>
              <a:t>Growth creates value only when the marketplace keeps its customer promise after purchase.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2907792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657487"/>
                </a:solidFill>
                <a:latin typeface="Aptos"/>
              </a:rPr>
              <a:t>Customers choose the marketplace at checkout. A smaller group of orders then breaks the promise during fulfilment.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57400"/>
            <a:ext cx="2560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QUESTIONS TESTED</a:t>
            </a:r>
          </a:p>
        </p:txBody>
      </p:sp>
      <p:sp>
        <p:nvSpPr>
          <p:cNvPr id="12" name="Oval 11"/>
          <p:cNvSpPr/>
          <p:nvPr/>
        </p:nvSpPr>
        <p:spPr>
          <a:xfrm>
            <a:off x="4626864" y="2532888"/>
            <a:ext cx="292608" cy="292608"/>
          </a:xfrm>
          <a:prstGeom prst="ellipse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251460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2496312"/>
            <a:ext cx="5074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How much do delivery time and lateness reduce ratings?</a:t>
            </a:r>
          </a:p>
        </p:txBody>
      </p:sp>
      <p:sp>
        <p:nvSpPr>
          <p:cNvPr id="15" name="Oval 14"/>
          <p:cNvSpPr/>
          <p:nvPr/>
        </p:nvSpPr>
        <p:spPr>
          <a:xfrm>
            <a:off x="4626864" y="3218688"/>
            <a:ext cx="292608" cy="292608"/>
          </a:xfrm>
          <a:prstGeom prst="ellipse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320040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3182112"/>
            <a:ext cx="5074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Does the problem sit with sellers or carrier transit?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904487"/>
            <a:ext cx="292608" cy="292608"/>
          </a:xfrm>
          <a:prstGeom prst="ellipse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388620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867912"/>
            <a:ext cx="5074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Do multi-seller orders create a separate satisfaction penalty?</a:t>
            </a:r>
          </a:p>
        </p:txBody>
      </p:sp>
      <p:sp>
        <p:nvSpPr>
          <p:cNvPr id="21" name="Oval 20"/>
          <p:cNvSpPr/>
          <p:nvPr/>
        </p:nvSpPr>
        <p:spPr>
          <a:xfrm>
            <a:off x="4626864" y="4590288"/>
            <a:ext cx="292608" cy="292608"/>
          </a:xfrm>
          <a:prstGeom prst="ellipse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457200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4553712"/>
            <a:ext cx="5074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Which routes and sellers need targeted action?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5440680"/>
            <a:ext cx="6400800" cy="502920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5550408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Leadership question  →  which failures deserve intervention before they damage satisfaction and growth?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We reconstructed the customer journey before drawing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A protected one-row-per-order dataset keeps the customer outcome comparable across every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9385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2295144"/>
            <a:ext cx="310896" cy="310896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33172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16335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88920"/>
            <a:ext cx="1572768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Raw relational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29000"/>
            <a:ext cx="1572768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487"/>
                </a:solidFill>
                <a:latin typeface="Aptos"/>
              </a:rPr>
              <a:t>Orders, items, payments, reviews, customers, sellers, products &amp; geography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593592"/>
            <a:ext cx="329184" cy="0"/>
          </a:xfrm>
          <a:prstGeom prst="line">
            <a:avLst/>
          </a:prstGeom>
          <a:ln w="17780">
            <a:solidFill>
              <a:srgbClr val="BCC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148840"/>
            <a:ext cx="19385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26664" y="2295144"/>
            <a:ext cx="310896" cy="310896"/>
          </a:xfrm>
          <a:prstGeom prst="ellipse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33172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88920"/>
            <a:ext cx="1572768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Grain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429000"/>
            <a:ext cx="1572768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487"/>
                </a:solidFill>
                <a:latin typeface="Aptos"/>
              </a:rPr>
              <a:t>Aggregate item, payment and review tables before joining to orders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4608" y="3593592"/>
            <a:ext cx="329184" cy="0"/>
          </a:xfrm>
          <a:prstGeom prst="line">
            <a:avLst/>
          </a:prstGeom>
          <a:ln w="17780">
            <a:solidFill>
              <a:srgbClr val="BCC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93792" y="2148840"/>
            <a:ext cx="19385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94376" y="2295144"/>
            <a:ext cx="310896" cy="310896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233172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163354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788920"/>
            <a:ext cx="1572768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Quality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3429000"/>
            <a:ext cx="1572768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487"/>
                </a:solidFill>
                <a:latin typeface="Aptos"/>
              </a:rPr>
              <a:t>Standardise timestamps, average duplicate reviews, flag impossible intervals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3593592"/>
            <a:ext cx="329184" cy="0"/>
          </a:xfrm>
          <a:prstGeom prst="line">
            <a:avLst/>
          </a:prstGeom>
          <a:ln w="17780">
            <a:solidFill>
              <a:srgbClr val="BCC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61504" y="2148840"/>
            <a:ext cx="19385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62088" y="2295144"/>
            <a:ext cx="310896" cy="310896"/>
          </a:xfrm>
          <a:prstGeom prst="ellipse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64424" y="233172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2788920"/>
            <a:ext cx="1572768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Feature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3429000"/>
            <a:ext cx="1572768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487"/>
                </a:solidFill>
                <a:latin typeface="Aptos"/>
              </a:rPr>
              <a:t>Delivery days, late flag, seller handling, carrier transit &amp; seller count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00032" y="3593592"/>
            <a:ext cx="329184" cy="0"/>
          </a:xfrm>
          <a:prstGeom prst="line">
            <a:avLst/>
          </a:prstGeom>
          <a:ln w="17780">
            <a:solidFill>
              <a:srgbClr val="BCC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29216" y="2148840"/>
            <a:ext cx="193852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829800" y="2295144"/>
            <a:ext cx="310896" cy="310896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32136" y="233172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163354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788920"/>
            <a:ext cx="1572768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Decision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2096" y="3429000"/>
            <a:ext cx="1572768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487"/>
                </a:solidFill>
                <a:latin typeface="Aptos"/>
              </a:rPr>
              <a:t>Segment comparisons, correlations, regional rollups &amp; seller-risk prioritisation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44068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F8F1DD"/>
          </a:solidFill>
          <a:ln>
            <a:solidFill>
              <a:srgbClr val="F8F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605272"/>
            <a:ext cx="1417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D6A045"/>
                </a:solidFill>
                <a:latin typeface="Aptos"/>
              </a:rPr>
              <a:t>WHY THIS MATTERS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5577840"/>
            <a:ext cx="8641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F2A37"/>
                </a:solidFill>
                <a:latin typeface="Aptos"/>
              </a:rPr>
              <a:t>Direct joins would multiply items, payments and reviews, producing biased satisfaction comparisons.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ACT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The long tail becomes a satisfaction cliff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Ratings remain high through 15 days, deteriorate after 16 days, and collapse beyond 25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79740"/>
            <a:ext cx="1194206" cy="2349459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68844"/>
            <a:ext cx="128564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4.43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102352"/>
            <a:ext cx="141366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0–5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3198" y="2722168"/>
            <a:ext cx="1194206" cy="2307031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27478" y="2411272"/>
            <a:ext cx="128564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4.35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3470" y="5102352"/>
            <a:ext cx="141366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6–10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1996" y="2775204"/>
            <a:ext cx="1194206" cy="2253996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86276" y="2464308"/>
            <a:ext cx="128564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4.25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2268" y="5102352"/>
            <a:ext cx="141366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11–15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0795" y="2918399"/>
            <a:ext cx="1194206" cy="2110800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45075" y="2607503"/>
            <a:ext cx="128564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3.98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1067" y="5102352"/>
            <a:ext cx="141366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16–25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9593" y="3644981"/>
            <a:ext cx="1194206" cy="1384218"/>
          </a:xfrm>
          <a:prstGeom prst="roundRect">
            <a:avLst>
              <a:gd name="adj" fmla="val 8000"/>
            </a:avLst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3873" y="3334085"/>
            <a:ext cx="128564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DB5B53"/>
                </a:solidFill>
                <a:latin typeface="Aptos"/>
              </a:rPr>
              <a:t>2.61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9865" y="5102352"/>
            <a:ext cx="141366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25+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5029200"/>
            <a:ext cx="6720840" cy="0"/>
          </a:xfrm>
          <a:prstGeom prst="line">
            <a:avLst/>
          </a:prstGeom>
          <a:ln w="1270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01000" y="224028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AEBE9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1000" y="2240280"/>
            <a:ext cx="54864" cy="1234440"/>
          </a:xfrm>
          <a:prstGeom prst="rect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2404872"/>
            <a:ext cx="29718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163354"/>
                </a:solidFill>
                <a:latin typeface="Aptos"/>
              </a:rPr>
              <a:t>2.61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2907792"/>
            <a:ext cx="297180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average stars for 25+ day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70332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F8F1DD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3703320"/>
            <a:ext cx="54864" cy="1234440"/>
          </a:xfrm>
          <a:prstGeom prst="rect">
            <a:avLst/>
          </a:prstGeom>
          <a:solidFill>
            <a:srgbClr val="D6A045"/>
          </a:solidFill>
          <a:ln>
            <a:solidFill>
              <a:srgbClr val="D6A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8" y="3867911"/>
            <a:ext cx="29718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163354"/>
                </a:solidFill>
                <a:latin typeface="Aptos"/>
              </a:rPr>
              <a:t>43.6%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4370831"/>
            <a:ext cx="297180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one-star reviews among 25+ day orders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5230368"/>
            <a:ext cx="3337560" cy="640080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1312" y="5376672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Operating priority: prevent orders reaching this band.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ACT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A late promise costs 1.96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Late delivery is the clearest customer-experience KPI in the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4709160" cy="2606040"/>
          </a:xfrm>
          <a:prstGeom prst="roundRect">
            <a:avLst>
              <a:gd name="adj" fmla="val 8000"/>
            </a:avLst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633472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163354"/>
                </a:solidFill>
                <a:latin typeface="Aptos"/>
              </a:rPr>
              <a:t>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90672"/>
            <a:ext cx="27432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5200" b="1">
                <a:solidFill>
                  <a:srgbClr val="163354"/>
                </a:solidFill>
                <a:latin typeface="Aptos"/>
              </a:rPr>
              <a:t>4.23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05072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average 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331720"/>
            <a:ext cx="4709160" cy="2606040"/>
          </a:xfrm>
          <a:prstGeom prst="roundRect">
            <a:avLst>
              <a:gd name="adj" fmla="val 8000"/>
            </a:avLst>
          </a:prstGeom>
          <a:solidFill>
            <a:srgbClr val="FAEBE9"/>
          </a:solidFill>
          <a:ln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633472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090672"/>
            <a:ext cx="27432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5200" b="1">
                <a:solidFill>
                  <a:srgbClr val="DB5B53"/>
                </a:solidFill>
                <a:latin typeface="Aptos"/>
              </a:rPr>
              <a:t>2.27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005072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average rating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5230368"/>
            <a:ext cx="4983480" cy="566928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2191" y="5376672"/>
            <a:ext cx="4526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−1.96 stars  •  reliability is a growth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961888"/>
            <a:ext cx="8321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657487"/>
                </a:solidFill>
                <a:latin typeface="Aptos"/>
              </a:rPr>
              <a:t>Leadership implication: manage promise reliability alongside seller growth and order volume.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ACT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The failure is mainly in transit, not at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The analysis separates carrier transit from seller handling and approval delay.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657487"/>
                </a:solidFill>
                <a:latin typeface="Aptos"/>
              </a:rPr>
              <a:t>Correlation with review score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2487168"/>
            <a:ext cx="0" cy="2496312"/>
          </a:xfrm>
          <a:prstGeom prst="line">
            <a:avLst/>
          </a:prstGeom>
          <a:ln w="1397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633472"/>
            <a:ext cx="20574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ptos"/>
              </a:rPr>
              <a:t>Carrier transit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79" y="2651760"/>
            <a:ext cx="2423160" cy="347472"/>
          </a:xfrm>
          <a:prstGeom prst="roundRect">
            <a:avLst>
              <a:gd name="adj" fmla="val 8000"/>
            </a:avLst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1" y="2633472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DB5B53"/>
                </a:solidFill>
                <a:latin typeface="Aptos"/>
              </a:rPr>
              <a:t>-0.30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2"/>
            <a:ext cx="20574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ptos"/>
              </a:rPr>
              <a:t>Seller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4659" y="3429000"/>
            <a:ext cx="1211580" cy="347472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6291" y="3410712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163354"/>
                </a:solidFill>
                <a:latin typeface="Aptos"/>
              </a:rPr>
              <a:t>-0.15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20574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ptos"/>
              </a:rPr>
              <a:t>Approval 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4695" y="4206240"/>
            <a:ext cx="161544" cy="347472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6328" y="4187952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163354"/>
                </a:solidFill>
                <a:latin typeface="Aptos"/>
              </a:rPr>
              <a:t>-0.02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148840"/>
            <a:ext cx="3246120" cy="292608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450592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80"/>
            <a:ext cx="260604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163354"/>
                </a:solidFill>
                <a:latin typeface="Aptos"/>
              </a:rPr>
              <a:t>Longer carrier transit has a stronger negative relationship with review score than seller handling or approval lag.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43400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657487"/>
                </a:solidFill>
                <a:latin typeface="Aptos"/>
              </a:rPr>
              <a:t>First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315968"/>
            <a:ext cx="1554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ptos"/>
              </a:rPr>
              <a:t>Carrier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7132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57487"/>
                </a:solidFill>
                <a:latin typeface="Aptos"/>
              </a:rPr>
              <a:t>Note: correlation ranks the operational signals; it does not prove causality.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ACT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Multiple sellers fragment the 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The number of distinct sellers in one order matters more than item count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01366"/>
            <a:ext cx="1511046" cy="2427833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90470"/>
            <a:ext cx="160248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4.12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102352"/>
            <a:ext cx="173050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1 seller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5758" y="3332073"/>
            <a:ext cx="1511046" cy="1697126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90038" y="3021177"/>
            <a:ext cx="160248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2.88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6030" y="5102352"/>
            <a:ext cx="173050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2 sellers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1396" y="3644392"/>
            <a:ext cx="1511046" cy="1384808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5676" y="3333496"/>
            <a:ext cx="160248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2.35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1668" y="5102352"/>
            <a:ext cx="173050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3 sellers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7034" y="4439920"/>
            <a:ext cx="1511046" cy="589279"/>
          </a:xfrm>
          <a:prstGeom prst="roundRect">
            <a:avLst>
              <a:gd name="adj" fmla="val 8000"/>
            </a:avLst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1314" y="4129024"/>
            <a:ext cx="160248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DB5B53"/>
                </a:solidFill>
                <a:latin typeface="Aptos"/>
              </a:rPr>
              <a:t>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7306" y="5102352"/>
            <a:ext cx="173050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4+ sellers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" y="5029200"/>
            <a:ext cx="6629399" cy="0"/>
          </a:xfrm>
          <a:prstGeom prst="line">
            <a:avLst/>
          </a:prstGeom>
          <a:ln w="1270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22402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E7EFF7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54864" cy="1143000"/>
          </a:xfrm>
          <a:prstGeom prst="rect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02168" y="2404872"/>
            <a:ext cx="29718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63354"/>
                </a:solidFill>
                <a:latin typeface="Aptos"/>
              </a:rPr>
              <a:t>4.12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2907792"/>
            <a:ext cx="297180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stars • one-seller 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6118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AEBE9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1000" y="3611880"/>
            <a:ext cx="54864" cy="1143000"/>
          </a:xfrm>
          <a:prstGeom prst="rect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3776472"/>
            <a:ext cx="29718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63354"/>
                </a:solidFill>
                <a:latin typeface="Aptos"/>
              </a:rPr>
              <a:t>2.88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4279392"/>
            <a:ext cx="297180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stars • two-seller 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5029200"/>
            <a:ext cx="3337560" cy="841248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312" y="5175504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C1D4E6"/>
                </a:solidFill>
                <a:latin typeface="Aptos"/>
              </a:rPr>
              <a:t>Product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5120640"/>
            <a:ext cx="173736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Show split-package dates + parcel-level tracking at checkout.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ACT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The dashboard directs resources to the highest-risk 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Route conditions determine where to focus; commercial concentration determines whom to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657487"/>
                </a:solidFill>
                <a:latin typeface="Aptos"/>
              </a:rPr>
              <a:t>Lowest scoring states with at least 300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41259"/>
            <a:ext cx="713232" cy="1813620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901184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ptos"/>
              </a:rPr>
              <a:t>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58379"/>
            <a:ext cx="8961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63354"/>
                </a:solidFill>
                <a:latin typeface="Aptos"/>
              </a:rPr>
              <a:t>21.1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691993"/>
            <a:ext cx="713232" cy="2062886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47672" y="4901184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ptos"/>
              </a:rPr>
              <a:t>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509113"/>
            <a:ext cx="8961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63354"/>
                </a:solidFill>
                <a:latin typeface="Aptos"/>
              </a:rPr>
              <a:t>24.0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949854"/>
            <a:ext cx="713232" cy="1805025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2" y="4901184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ptos"/>
              </a:rPr>
              <a:t>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66974"/>
            <a:ext cx="8961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63354"/>
                </a:solidFill>
                <a:latin typeface="Aptos"/>
              </a:rPr>
              <a:t>21.0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752161"/>
            <a:ext cx="713232" cy="2002718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4901184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ptos"/>
              </a:rPr>
              <a:t>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569281"/>
            <a:ext cx="8961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63354"/>
                </a:solidFill>
                <a:latin typeface="Aptos"/>
              </a:rPr>
              <a:t>23.3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3130356"/>
            <a:ext cx="713232" cy="1624523"/>
          </a:xfrm>
          <a:prstGeom prst="roundRect">
            <a:avLst>
              <a:gd name="adj" fmla="val 8000"/>
            </a:avLst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76672" y="4901184"/>
            <a:ext cx="74980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1F2A37"/>
                </a:solidFill>
                <a:latin typeface="Aptos"/>
              </a:rPr>
              <a:t>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947476"/>
            <a:ext cx="8961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>
                <a:solidFill>
                  <a:srgbClr val="DB5B53"/>
                </a:solidFill>
                <a:latin typeface="Aptos"/>
              </a:rPr>
              <a:t>18.9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24028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F8F1DD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29400" y="2240280"/>
            <a:ext cx="54864" cy="1417320"/>
          </a:xfrm>
          <a:prstGeom prst="rect">
            <a:avLst/>
          </a:prstGeom>
          <a:solidFill>
            <a:srgbClr val="D6A045"/>
          </a:solidFill>
          <a:ln>
            <a:solidFill>
              <a:srgbClr val="D6A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0568" y="2404872"/>
            <a:ext cx="16916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63354"/>
                </a:solidFill>
                <a:latin typeface="Aptos"/>
              </a:rPr>
              <a:t>26.1%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907792"/>
            <a:ext cx="1691640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commercial concentration • top 1% of sellers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24028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E7EFF7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1120" y="2240280"/>
            <a:ext cx="54864" cy="1417320"/>
          </a:xfrm>
          <a:prstGeom prst="rect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62288" y="2404872"/>
            <a:ext cx="16916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63354"/>
                </a:solidFill>
                <a:latin typeface="Aptos"/>
              </a:rPr>
              <a:t>67.5%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2907792"/>
            <a:ext cx="1691640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commercial concentration • top 10% of sellers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977639"/>
            <a:ext cx="4389120" cy="123444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4224528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LEADERSHIP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572000"/>
            <a:ext cx="3749039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63354"/>
                </a:solidFill>
                <a:latin typeface="Aptos"/>
              </a:rPr>
              <a:t>Set route-specific SLAs and use dedicated support for high-value sellers at satisfaction risk.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The dashboard shows when the delivery system came under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Monthly late-delivery monitoring reveals periods that require immediate carrier and route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09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5349240"/>
            <a:ext cx="6903720" cy="0"/>
          </a:xfrm>
          <a:prstGeom prst="line">
            <a:avLst/>
          </a:prstGeom>
          <a:ln w="1270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148840"/>
            <a:ext cx="0" cy="3200400"/>
          </a:xfrm>
          <a:prstGeom prst="line">
            <a:avLst/>
          </a:prstGeom>
          <a:ln w="1270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19" y="3412998"/>
            <a:ext cx="1252729" cy="768096"/>
          </a:xfrm>
          <a:prstGeom prst="line">
            <a:avLst/>
          </a:prstGeom>
          <a:ln w="27940">
            <a:solidFill>
              <a:srgbClr val="16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41448" y="4181094"/>
            <a:ext cx="1252727" cy="272034"/>
          </a:xfrm>
          <a:prstGeom prst="line">
            <a:avLst/>
          </a:prstGeom>
          <a:ln w="27940">
            <a:solidFill>
              <a:srgbClr val="16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694175" y="3140963"/>
            <a:ext cx="1252728" cy="1312165"/>
          </a:xfrm>
          <a:prstGeom prst="line">
            <a:avLst/>
          </a:prstGeom>
          <a:ln w="27940">
            <a:solidFill>
              <a:srgbClr val="16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46903" y="2388869"/>
            <a:ext cx="1252728" cy="752094"/>
          </a:xfrm>
          <a:prstGeom prst="line">
            <a:avLst/>
          </a:prstGeom>
          <a:ln w="27940">
            <a:solidFill>
              <a:srgbClr val="16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99631" y="2388869"/>
            <a:ext cx="1252728" cy="2256282"/>
          </a:xfrm>
          <a:prstGeom prst="line">
            <a:avLst/>
          </a:prstGeom>
          <a:ln w="27940">
            <a:solidFill>
              <a:srgbClr val="16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15567" y="3339846"/>
            <a:ext cx="146304" cy="146304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19" y="54589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487"/>
                </a:solidFill>
                <a:latin typeface="Aptos"/>
              </a:rPr>
              <a:t>Nov</a:t>
            </a:r>
          </a:p>
        </p:txBody>
      </p:sp>
      <p:sp>
        <p:nvSpPr>
          <p:cNvPr id="16" name="Oval 15"/>
          <p:cNvSpPr/>
          <p:nvPr/>
        </p:nvSpPr>
        <p:spPr>
          <a:xfrm>
            <a:off x="2368296" y="4107941"/>
            <a:ext cx="146304" cy="146304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12848" y="54589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487"/>
                </a:solidFill>
                <a:latin typeface="Aptos"/>
              </a:rPr>
              <a:t>Dec</a:t>
            </a:r>
          </a:p>
        </p:txBody>
      </p:sp>
      <p:sp>
        <p:nvSpPr>
          <p:cNvPr id="18" name="Oval 17"/>
          <p:cNvSpPr/>
          <p:nvPr/>
        </p:nvSpPr>
        <p:spPr>
          <a:xfrm>
            <a:off x="3621023" y="4379976"/>
            <a:ext cx="146304" cy="146304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65575" y="54589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487"/>
                </a:solidFill>
                <a:latin typeface="Aptos"/>
              </a:rPr>
              <a:t>Jan</a:t>
            </a:r>
          </a:p>
        </p:txBody>
      </p:sp>
      <p:sp>
        <p:nvSpPr>
          <p:cNvPr id="20" name="Oval 19"/>
          <p:cNvSpPr/>
          <p:nvPr/>
        </p:nvSpPr>
        <p:spPr>
          <a:xfrm>
            <a:off x="4873751" y="3067811"/>
            <a:ext cx="146304" cy="146304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3" y="54589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487"/>
                </a:solidFill>
                <a:latin typeface="Aptos"/>
              </a:rPr>
              <a:t>Feb</a:t>
            </a:r>
          </a:p>
        </p:txBody>
      </p:sp>
      <p:sp>
        <p:nvSpPr>
          <p:cNvPr id="22" name="Oval 21"/>
          <p:cNvSpPr/>
          <p:nvPr/>
        </p:nvSpPr>
        <p:spPr>
          <a:xfrm>
            <a:off x="6126479" y="2315717"/>
            <a:ext cx="146304" cy="146304"/>
          </a:xfrm>
          <a:prstGeom prst="ellipse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71031" y="54589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487"/>
                </a:solidFill>
                <a:latin typeface="Aptos"/>
              </a:rP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2004821"/>
            <a:ext cx="694944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DB5B53"/>
                </a:solidFill>
                <a:latin typeface="Aptos"/>
              </a:rPr>
              <a:t>18.5%</a:t>
            </a:r>
          </a:p>
        </p:txBody>
      </p:sp>
      <p:sp>
        <p:nvSpPr>
          <p:cNvPr id="25" name="Oval 24"/>
          <p:cNvSpPr/>
          <p:nvPr/>
        </p:nvSpPr>
        <p:spPr>
          <a:xfrm>
            <a:off x="7379207" y="4571999"/>
            <a:ext cx="146304" cy="146304"/>
          </a:xfrm>
          <a:prstGeom prst="ellipse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59" y="5458968"/>
            <a:ext cx="457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487"/>
                </a:solidFill>
                <a:latin typeface="Aptos"/>
              </a:rPr>
              <a:t>Apr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3317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AEBE9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2331720"/>
            <a:ext cx="54864" cy="1371600"/>
          </a:xfrm>
          <a:prstGeom prst="rect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93608" y="2496312"/>
            <a:ext cx="28803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163354"/>
                </a:solidFill>
                <a:latin typeface="Aptos"/>
              </a:rPr>
              <a:t>18.5%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999232"/>
            <a:ext cx="28803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late deliveries • March 2018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977639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7" y="4224528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C0D2E4"/>
                </a:solidFill>
                <a:latin typeface="Aptos"/>
              </a:rPr>
              <a:t>OPERATING 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4590288"/>
            <a:ext cx="265176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Investigate routes, carriers and seller cohorts behind any sustained increase.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806440"/>
            <a:ext cx="69037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57487"/>
                </a:solidFill>
                <a:latin typeface="Aptos"/>
              </a:rPr>
              <a:t>Dashboard use: monitor late-delivery rate by purchase month before the satisfaction impact becomes visible in reviews.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SERVICE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Low ratings carry a stronger complaint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The complaint view helps service teams distinguish a minor delay from an experience that warrants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36376"/>
            <a:ext cx="1175918" cy="2392823"/>
          </a:xfrm>
          <a:prstGeom prst="roundRect">
            <a:avLst>
              <a:gd name="adj" fmla="val 8000"/>
            </a:avLst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25480"/>
            <a:ext cx="1267358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DB5B53"/>
                </a:solidFill>
                <a:latin typeface="Aptos"/>
              </a:rPr>
              <a:t>76.7%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102352"/>
            <a:ext cx="1395374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1-star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0630" y="2901552"/>
            <a:ext cx="1175918" cy="2127647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54910" y="2590656"/>
            <a:ext cx="1267358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68.2%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902" y="5102352"/>
            <a:ext cx="1395374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2-star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1140" y="3669003"/>
            <a:ext cx="1175918" cy="1360196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5420" y="3358107"/>
            <a:ext cx="1267358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43.6%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412" y="5102352"/>
            <a:ext cx="1395374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3-star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1651" y="4052728"/>
            <a:ext cx="1175918" cy="976471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5931" y="3741832"/>
            <a:ext cx="1267358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31.3%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1923" y="5102352"/>
            <a:ext cx="1395374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4-star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2161" y="3909221"/>
            <a:ext cx="1175918" cy="1119978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6441" y="3598325"/>
            <a:ext cx="1267358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3354"/>
                </a:solidFill>
                <a:latin typeface="Aptos"/>
              </a:rPr>
              <a:t>35.9%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2433" y="5102352"/>
            <a:ext cx="1395374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657487"/>
                </a:solidFill>
                <a:latin typeface="Aptos"/>
              </a:rPr>
              <a:t>5-star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5029200"/>
            <a:ext cx="6629399" cy="0"/>
          </a:xfrm>
          <a:prstGeom prst="line">
            <a:avLst/>
          </a:prstGeom>
          <a:ln w="1270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01000" y="2240280"/>
            <a:ext cx="3337560" cy="1280160"/>
          </a:xfrm>
          <a:prstGeom prst="roundRect">
            <a:avLst>
              <a:gd name="adj" fmla="val 8000"/>
            </a:avLst>
          </a:prstGeom>
          <a:solidFill>
            <a:srgbClr val="FAEBE9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1000" y="2240280"/>
            <a:ext cx="54864" cy="1280160"/>
          </a:xfrm>
          <a:prstGeom prst="rect">
            <a:avLst/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2404872"/>
            <a:ext cx="29718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163354"/>
                </a:solidFill>
                <a:latin typeface="Aptos"/>
              </a:rPr>
              <a:t>76.7%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2907792"/>
            <a:ext cx="2971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57487"/>
                </a:solidFill>
                <a:latin typeface="Aptos"/>
              </a:rPr>
              <a:t>of 1-star reviews contain a written comment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88620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4142232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SERVICE IMPLICATION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498848"/>
            <a:ext cx="260604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63354"/>
                </a:solidFill>
                <a:latin typeface="Aptos"/>
              </a:rPr>
              <a:t>Combine transit exceptions with review comments to trigger recovery outreach for the most severe cases.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163354"/>
                </a:solidFill>
                <a:latin typeface="Aptos"/>
              </a:rPr>
              <a:t>The dashboard becomes a fulfilment 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4241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57487"/>
                </a:solidFill>
                <a:latin typeface="Aptos"/>
              </a:rPr>
              <a:t>A 90-day plan converts the evidence into clear operating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93192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06527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1417320" cy="987552"/>
          </a:xfrm>
          <a:prstGeom prst="roundRect">
            <a:avLst>
              <a:gd name="adj" fmla="val 8000"/>
            </a:avLst>
          </a:prstGeom>
          <a:solidFill>
            <a:srgbClr val="DB5B53"/>
          </a:solidFill>
          <a:ln>
            <a:solidFill>
              <a:srgbClr val="DB5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DAYS 0–30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313432"/>
            <a:ext cx="5120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Activate day-16 transit alerts + carrier route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679192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657487"/>
                </a:solidFill>
                <a:latin typeface="Aptos"/>
              </a:rPr>
              <a:t>Find the avoidable long-delivery 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50008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DB5B53"/>
                </a:solidFill>
                <a:latin typeface="Aptos"/>
              </a:rPr>
              <a:t>LEADERSHIP LEARNS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55848"/>
            <a:ext cx="106527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3355848"/>
            <a:ext cx="1417320" cy="987552"/>
          </a:xfrm>
          <a:prstGeom prst="roundRect">
            <a:avLst>
              <a:gd name="adj" fmla="val 8000"/>
            </a:avLst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648456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DAYS 31–60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520440"/>
            <a:ext cx="5120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Pilot regional SLA messages + split-package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886200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657487"/>
                </a:solidFill>
                <a:latin typeface="Aptos"/>
              </a:rPr>
              <a:t>Test whether expectations reduce dissatisfaction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557016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163354"/>
                </a:solidFill>
                <a:latin typeface="Aptos"/>
              </a:rPr>
              <a:t>LEADERSHIP LEARNS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106527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4562856"/>
            <a:ext cx="1417320" cy="987552"/>
          </a:xfrm>
          <a:prstGeom prst="roundRect">
            <a:avLst>
              <a:gd name="adj" fmla="val 8000"/>
            </a:avLst>
          </a:prstGeom>
          <a:solidFill>
            <a:srgbClr val="D6A045"/>
          </a:solidFill>
          <a:ln>
            <a:solidFill>
              <a:srgbClr val="D6A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855464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DAYS 61–90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4727448"/>
            <a:ext cx="5120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63354"/>
                </a:solidFill>
                <a:latin typeface="Aptos"/>
              </a:rPr>
              <a:t>Review high-value seller risk + scale strongest interventions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5093208"/>
            <a:ext cx="5394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657487"/>
                </a:solidFill>
                <a:latin typeface="Aptos"/>
              </a:rPr>
              <a:t>Improve ratings without reducing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764024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D6A045"/>
                </a:solidFill>
                <a:latin typeface="Aptos"/>
              </a:rPr>
              <a:t>LEADERSHIP LEARNS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DB5B53"/>
                </a:solidFill>
                <a:latin typeface="Aptos"/>
              </a:rPr>
              <a:t>EXECUTIVE SCORECARD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852160"/>
            <a:ext cx="8549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F2A37"/>
                </a:solidFill>
                <a:latin typeface="Aptos"/>
              </a:rPr>
              <a:t>25+ day share  •  late-delivery rate  •  rating gap  •  multi-seller rating gap  •  seller growth  •  order volume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57487"/>
                </a:solidFill>
                <a:latin typeface="Aptos"/>
              </a:rPr>
              <a:t>E Commerce Order Experience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37960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6574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54"/>
          </a:solidFill>
          <a:ln>
            <a:solidFill>
              <a:srgbClr val="16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C7D8E8"/>
                </a:solidFill>
                <a:latin typeface="Aptos"/>
              </a:rPr>
              <a:t>THE LEADERSHIP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9601200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Protect marketplace growth
by protecting the customer promise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697480"/>
            <a:ext cx="10469880" cy="0"/>
          </a:xfrm>
          <a:prstGeom prst="line">
            <a:avLst/>
          </a:prstGeom>
          <a:ln w="12700">
            <a:solidFill>
              <a:srgbClr val="4C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3063240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B5B53"/>
                </a:solidFill>
                <a:latin typeface="Aptos"/>
              </a:rPr>
              <a:t>FINAL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93008"/>
            <a:ext cx="5212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Do not restrict marketplace growth broadly.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86384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DBE5EE"/>
                </a:solidFill>
                <a:latin typeface="Aptos"/>
              </a:rPr>
              <a:t>Reduce the long-delivery tail, make split fulfilment transparent, and support high-value sellers whose delivery experience is at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3246120" cy="822960"/>
          </a:xfrm>
          <a:prstGeom prst="roundRect">
            <a:avLst>
              <a:gd name="adj" fmla="val 8000"/>
            </a:avLst>
          </a:prstGeom>
          <a:solidFill>
            <a:srgbClr val="1F4267"/>
          </a:solidFill>
          <a:ln>
            <a:solidFill>
              <a:srgbClr val="446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5468112"/>
            <a:ext cx="3200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DB5B53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5404104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Reduce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5660136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C3D3E2"/>
                </a:solidFill>
                <a:latin typeface="Aptos"/>
              </a:rPr>
              <a:t>the long-delivery 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5257800"/>
            <a:ext cx="3246120" cy="822960"/>
          </a:xfrm>
          <a:prstGeom prst="roundRect">
            <a:avLst>
              <a:gd name="adj" fmla="val 8000"/>
            </a:avLst>
          </a:prstGeom>
          <a:solidFill>
            <a:srgbClr val="1F4267"/>
          </a:solidFill>
          <a:ln>
            <a:solidFill>
              <a:srgbClr val="446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5468112"/>
            <a:ext cx="3200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D6A045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5404104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Make transparent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5660136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C3D3E2"/>
                </a:solidFill>
                <a:latin typeface="Aptos"/>
              </a:rPr>
              <a:t>split fulfilment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5257800"/>
            <a:ext cx="3246120" cy="822960"/>
          </a:xfrm>
          <a:prstGeom prst="roundRect">
            <a:avLst>
              <a:gd name="adj" fmla="val 8000"/>
            </a:avLst>
          </a:prstGeom>
          <a:solidFill>
            <a:srgbClr val="1F4267"/>
          </a:solidFill>
          <a:ln>
            <a:solidFill>
              <a:srgbClr val="446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9872" y="5468112"/>
            <a:ext cx="3200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BED3E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5404104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5660136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C3D3E2"/>
                </a:solidFill>
                <a:latin typeface="Aptos"/>
              </a:rPr>
              <a:t>high-value sellers at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6070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A9C1D5"/>
                </a:solidFill>
                <a:latin typeface="Aptos"/>
              </a:rPr>
              <a:t>Submission artefacts  •  Technical report  •  GitHub  •  Google Drive  •  EDA notebooks  •  Live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6768" y="658368"/>
            <a:ext cx="731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>
                <a:solidFill>
                  <a:srgbClr val="657487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991</Words>
  <Application>Microsoft Office PowerPoint</Application>
  <PresentationFormat>Widescreen</PresentationFormat>
  <Paragraphs>218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mrityunjay chakraborty</cp:lastModifiedBy>
  <cp:revision>3</cp:revision>
  <dcterms:created xsi:type="dcterms:W3CDTF">2013-01-27T09:14:16Z</dcterms:created>
  <dcterms:modified xsi:type="dcterms:W3CDTF">2026-09-09T18:14:08Z</dcterms:modified>
  <cp:category/>
</cp:coreProperties>
</file>